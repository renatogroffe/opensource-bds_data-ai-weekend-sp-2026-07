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19"/>
  </p:notesMasterIdLst>
  <p:handoutMasterIdLst>
    <p:handoutMasterId r:id="rId20"/>
  </p:handoutMasterIdLst>
  <p:sldIdLst>
    <p:sldId id="1393" r:id="rId8"/>
    <p:sldId id="1834" r:id="rId9"/>
    <p:sldId id="1707" r:id="rId10"/>
    <p:sldId id="1801" r:id="rId11"/>
    <p:sldId id="1518" r:id="rId12"/>
    <p:sldId id="1708" r:id="rId13"/>
    <p:sldId id="1836" r:id="rId14"/>
    <p:sldId id="1837" r:id="rId15"/>
    <p:sldId id="1838" r:id="rId16"/>
    <p:sldId id="1777" r:id="rId17"/>
    <p:sldId id="1750" r:id="rId18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834"/>
            <p14:sldId id="1707"/>
            <p14:sldId id="1801"/>
            <p14:sldId id="1518"/>
            <p14:sldId id="1708"/>
            <p14:sldId id="1836"/>
            <p14:sldId id="1837"/>
            <p14:sldId id="1838"/>
            <p14:sldId id="1777"/>
          </p14:sldIdLst>
        </p14:section>
        <p14:section name="Finalizando" id="{CF622469-3E87-46BA-8ED6-912C47B00EF3}">
          <p14:sldIdLst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88" autoAdjust="0"/>
    <p:restoredTop sz="79472" autoAdjust="0"/>
  </p:normalViewPr>
  <p:slideViewPr>
    <p:cSldViewPr>
      <p:cViewPr>
        <p:scale>
          <a:sx n="81" d="100"/>
          <a:sy n="81" d="100"/>
        </p:scale>
        <p:origin x="629" y="48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7/25/2026 2:22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7/25/2026 2:22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7/25/2026 2:54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5E24-E170-7DA5-797D-63B9419A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8E02F1-CC48-1600-13E1-EDD9512EC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3C2294-6D00-70AB-5B32-1E9A41645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873F75D-6A5E-02DC-69F7-F2F5E93CC81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2D550D-90E6-9443-25A9-827E7A10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CC0E5BB-2784-7852-29C2-8974A05C351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7/25/2026 3:08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CE9B2B-137A-FCEA-87AE-DF517B41EA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16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7/25/2026 3:08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7/25/2026 3:15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9C224-CAB2-192A-2E6F-7C5D5FF32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CDF985-D99B-7253-7D73-0A485B911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4488D06-17AA-7980-26A3-2C5080AB7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63F8C1C-DE87-F302-BF3E-744CC012EBC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8F2C61-9489-F815-0706-081EE679E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733FB04-006F-7844-EE9E-4615B162F71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7/25/2026 4:29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B64DAD-4BC0-8B77-0F26-AE0CF822C8C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661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4D756-9784-6442-AF23-EE4216B8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F79C348-78EC-2A6F-13C6-0FFEBF7BA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92191BA-7722-1D7B-63AC-AA7314309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F5854F70-0C01-5A27-BF4B-1BF9485CED0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182E3E-9097-EC6C-793A-AC122EFA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22C5E09-377E-AC00-D220-4DFF0AB5690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7/25/2026 4:33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2CB653-E65F-D929-DBDD-4578AA2C20D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100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7484A-BD1E-065C-2C4F-6D6BFF2F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F5FFA55-2427-8F20-D073-3BCFC7D83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23BE3B-3761-53EE-9296-340AD8848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3C202AB1-F0CC-1B3D-9E11-6CDB34CAB43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39F45A-8554-7559-7980-A0DB4041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42950042-18A0-85DD-4652-A1E2B57802A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7/25/2026 4:39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1F3640-0E5D-6E81-3275-55387C33EA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701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45B0-C657-9321-7E57-BD477E4D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3FACD-0D94-4670-2924-2DBC1796E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F8C38-6013-D37D-2823-4746C30FB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487F9B5-A75A-B5B8-310B-EB4BC76BA00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1B164-3A07-7E42-8CDE-01115431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F6B981-A456-84C5-299D-B14AEF5DBD0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7/25/2026 2:22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9330E-DE58-960A-9FF7-8869241C9E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53116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7/25/2026 2:22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666693"/>
            <a:ext cx="11201400" cy="2297169"/>
          </a:xfrm>
        </p:spPr>
        <p:txBody>
          <a:bodyPr/>
          <a:lstStyle/>
          <a:p>
            <a:r>
              <a:rPr lang="pt-BR" sz="4400" b="1" dirty="0"/>
              <a:t>Produtividade com Open </a:t>
            </a:r>
            <a:r>
              <a:rPr lang="pt-BR" sz="4400" b="1" dirty="0" err="1"/>
              <a:t>Source</a:t>
            </a:r>
            <a:r>
              <a:rPr lang="pt-BR" sz="4400" b="1" dirty="0"/>
              <a:t> ao implementar e gerenciar Bancos de Dados!</a:t>
            </a:r>
            <a:endParaRPr lang="pt-BR" sz="3700" dirty="0"/>
          </a:p>
        </p:txBody>
      </p:sp>
      <p:pic>
        <p:nvPicPr>
          <p:cNvPr id="1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15189BD-7EAE-4A0C-BD8E-B94BE30EF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F52FE4D-4A7E-E268-38E9-41C78C5634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9280" y="2692017"/>
            <a:ext cx="6111478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2" name="Imagem 1" descr="Uma imagem contendo desenho&#10;&#10;Descrição gerada automaticamente">
            <a:extLst>
              <a:ext uri="{FF2B5EF4-FFF2-40B4-BE49-F238E27FC236}">
                <a16:creationId xmlns:a16="http://schemas.microsoft.com/office/drawing/2014/main" id="{0C8BC6AF-3583-448F-1E5F-EC77837CEC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3" name="Imagem 2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CCD278D5-25B8-F4E8-B951-9BB8813E4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8" name="Imagem 7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D97EE21C-0F54-D755-E7B1-98FB5BA3C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202E9F73-4790-498C-6FBA-3B857BAA0B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11" name="Imagem 10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413AA8B4-C727-BCE2-5356-4AB8B8AF0C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6561" y="6010530"/>
            <a:ext cx="2052933" cy="64872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DCD12B8-B77A-A49C-A83A-A25B1C24AE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1673" y="5962654"/>
            <a:ext cx="1267961" cy="796121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8ED04243-BADD-4E11-A6FF-C4D85D0B3C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85857" y="2266892"/>
            <a:ext cx="2297169" cy="2297169"/>
          </a:xfrm>
          <a:prstGeom prst="rect">
            <a:avLst/>
          </a:prstGeom>
          <a:effectLst/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FC78BC7A-F2B4-47FC-E693-574411822D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93998" y="3666304"/>
            <a:ext cx="1649823" cy="164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DCB3-688A-6AC7-A3ED-556E7C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9A32D-2B68-7979-A26C-4D640C33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73AABD-0E0C-52EB-E837-CB826874F805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53091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500" b="1" dirty="0">
                <a:solidFill>
                  <a:schemeClr val="bg1"/>
                </a:solidFill>
              </a:rPr>
              <a:t>github.com/renatogroffe/opensource-bds_data-ai-weekend-sp-2026-07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15D794C-E257-A7C1-B532-B158EEB51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023" y="4351257"/>
            <a:ext cx="2176592" cy="2176592"/>
          </a:xfrm>
          <a:prstGeom prst="rect">
            <a:avLst/>
          </a:prstGeom>
          <a:effectLst/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3CB18D2-1824-CDE7-6871-837818FC4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023" y="1184414"/>
            <a:ext cx="2192613" cy="219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297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11810999" cy="129266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Open </a:t>
            </a:r>
            <a:r>
              <a:rPr lang="pt-BR" sz="3600" dirty="0" err="1">
                <a:solidFill>
                  <a:srgbClr val="494949"/>
                </a:solidFill>
              </a:rPr>
              <a:t>Source</a:t>
            </a:r>
            <a:r>
              <a:rPr lang="pt-BR" sz="3600" dirty="0">
                <a:solidFill>
                  <a:srgbClr val="494949"/>
                </a:solidFill>
              </a:rPr>
              <a:t> x Bancos de Dados e cenários de uso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CFC7A70-9947-6D66-8A78-3F2396810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023" y="4351257"/>
            <a:ext cx="2176592" cy="217659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Produtividade x Open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Source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 x Bancos de Dados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4370427"/>
          </a:xfrm>
        </p:spPr>
        <p:txBody>
          <a:bodyPr/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Uma grande diversidade de </a:t>
            </a:r>
            <a:r>
              <a:rPr lang="pt-BR" sz="3200" b="1" dirty="0">
                <a:solidFill>
                  <a:srgbClr val="494949"/>
                </a:solidFill>
              </a:rPr>
              <a:t>soluções open </a:t>
            </a:r>
            <a:r>
              <a:rPr lang="pt-BR" sz="3200" b="1" dirty="0" err="1">
                <a:solidFill>
                  <a:srgbClr val="494949"/>
                </a:solidFill>
              </a:rPr>
              <a:t>source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dirty="0">
                <a:solidFill>
                  <a:srgbClr val="494949"/>
                </a:solidFill>
              </a:rPr>
              <a:t>pode ser combinada com tecnologias de bancos de dados...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Docker </a:t>
            </a:r>
            <a:r>
              <a:rPr lang="pt-BR" sz="3200" b="1" dirty="0" err="1">
                <a:solidFill>
                  <a:srgbClr val="494949"/>
                </a:solidFill>
              </a:rPr>
              <a:t>Compose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dirty="0">
                <a:solidFill>
                  <a:srgbClr val="494949"/>
                </a:solidFill>
              </a:rPr>
              <a:t>e </a:t>
            </a:r>
            <a:r>
              <a:rPr lang="pt-BR" sz="3200" b="1" dirty="0" err="1">
                <a:solidFill>
                  <a:srgbClr val="494949"/>
                </a:solidFill>
              </a:rPr>
              <a:t>Testcontainers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dirty="0">
                <a:solidFill>
                  <a:srgbClr val="494949"/>
                </a:solidFill>
              </a:rPr>
              <a:t>podem ser ótimas opções para a rápida criação de ambientes de Desenvolvimento e Testes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DAAD8EE2-4A9E-17BD-DE36-4AA7B09BE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1351" y="2194046"/>
            <a:ext cx="2297169" cy="2297169"/>
          </a:xfrm>
          <a:prstGeom prst="rect">
            <a:avLst/>
          </a:prstGeom>
          <a:effectLst/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A601018-0ABE-B0EA-9EA2-F90C311CA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437" y="3822589"/>
            <a:ext cx="1649823" cy="164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146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564C6-82E4-5774-75AC-9145319D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540FE-1C07-347D-70C4-424B5B3A4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Produtividade x Open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Source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 x Bancos de Dados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983414-A09C-D5D1-D895-71EAC70B3D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401956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Extensões do </a:t>
            </a:r>
            <a:r>
              <a:rPr lang="pt-BR" sz="2800" b="1" dirty="0">
                <a:solidFill>
                  <a:srgbClr val="494949"/>
                </a:solidFill>
              </a:rPr>
              <a:t>Visual Studio </a:t>
            </a:r>
            <a:r>
              <a:rPr lang="pt-BR" sz="2800" b="1" dirty="0" err="1">
                <a:solidFill>
                  <a:srgbClr val="494949"/>
                </a:solidFill>
              </a:rPr>
              <a:t>Code</a:t>
            </a:r>
            <a:r>
              <a:rPr lang="pt-BR" sz="2800" dirty="0">
                <a:solidFill>
                  <a:srgbClr val="494949"/>
                </a:solidFill>
              </a:rPr>
              <a:t> oferecem praticidade e flexibilidade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MCP Servers</a:t>
            </a:r>
            <a:r>
              <a:rPr lang="pt-BR" sz="2800" dirty="0">
                <a:solidFill>
                  <a:srgbClr val="494949"/>
                </a:solidFill>
              </a:rPr>
              <a:t> auxiliam na automação de tarefas e produtividade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Monitoramento e </a:t>
            </a:r>
            <a:r>
              <a:rPr lang="pt-BR" sz="2800" dirty="0" err="1">
                <a:solidFill>
                  <a:srgbClr val="494949"/>
                </a:solidFill>
              </a:rPr>
              <a:t>obserbilidade</a:t>
            </a:r>
            <a:r>
              <a:rPr lang="pt-BR" sz="2800" dirty="0">
                <a:solidFill>
                  <a:srgbClr val="494949"/>
                </a:solidFill>
              </a:rPr>
              <a:t> facilidade com </a:t>
            </a:r>
            <a:r>
              <a:rPr lang="pt-BR" sz="2800" b="1" dirty="0" err="1">
                <a:solidFill>
                  <a:srgbClr val="494949"/>
                </a:solidFill>
              </a:rPr>
              <a:t>OpenTelemetry</a:t>
            </a:r>
            <a:r>
              <a:rPr lang="pt-BR" sz="2800" dirty="0">
                <a:solidFill>
                  <a:srgbClr val="494949"/>
                </a:solidFill>
              </a:rPr>
              <a:t> e soluções como a </a:t>
            </a:r>
            <a:r>
              <a:rPr lang="pt-BR" sz="2800" b="1" dirty="0" err="1">
                <a:solidFill>
                  <a:srgbClr val="494949"/>
                </a:solidFill>
              </a:rPr>
              <a:t>stack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b="1" dirty="0" err="1">
                <a:solidFill>
                  <a:srgbClr val="494949"/>
                </a:solidFill>
              </a:rPr>
              <a:t>Grafana</a:t>
            </a:r>
            <a:endParaRPr lang="pt-BR" sz="2800" b="1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684131C-DF31-F54F-0F9F-252DF85E77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1351" y="2194046"/>
            <a:ext cx="2297169" cy="2297169"/>
          </a:xfrm>
          <a:prstGeom prst="rect">
            <a:avLst/>
          </a:prstGeom>
          <a:effectLst/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05785C2-D3D1-5412-C17E-3D6B58B0B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437" y="3822589"/>
            <a:ext cx="1649823" cy="164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9376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2D233-671D-4AFC-7CC9-8089388B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BAB34-B942-521A-3485-237F49CBF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Produtividade x Open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Source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 x Bancos de Dados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E31DF6-95C4-B7EB-515D-E73F448D04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229601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Testes de performance facilitados por soluções como </a:t>
            </a:r>
            <a:r>
              <a:rPr lang="pt-BR" sz="2800" b="1" dirty="0" err="1">
                <a:solidFill>
                  <a:srgbClr val="494949"/>
                </a:solidFill>
              </a:rPr>
              <a:t>Grafana</a:t>
            </a:r>
            <a:r>
              <a:rPr lang="pt-BR" sz="2800" b="1" dirty="0">
                <a:solidFill>
                  <a:srgbClr val="494949"/>
                </a:solidFill>
              </a:rPr>
              <a:t> k6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Geração de dados fake com </a:t>
            </a:r>
            <a:r>
              <a:rPr lang="pt-BR" sz="2800" b="1" dirty="0" err="1">
                <a:solidFill>
                  <a:srgbClr val="494949"/>
                </a:solidFill>
              </a:rPr>
              <a:t>Bogus</a:t>
            </a:r>
            <a:r>
              <a:rPr lang="pt-BR" sz="2800" dirty="0">
                <a:solidFill>
                  <a:srgbClr val="494949"/>
                </a:solidFill>
              </a:rPr>
              <a:t>, </a:t>
            </a:r>
            <a:r>
              <a:rPr lang="pt-BR" sz="2800" b="1" dirty="0" err="1">
                <a:solidFill>
                  <a:srgbClr val="494949"/>
                </a:solidFill>
              </a:rPr>
              <a:t>Faker</a:t>
            </a:r>
            <a:r>
              <a:rPr lang="pt-BR" sz="2800" dirty="0">
                <a:solidFill>
                  <a:srgbClr val="494949"/>
                </a:solidFill>
              </a:rPr>
              <a:t>, ... e até o próprio </a:t>
            </a:r>
            <a:r>
              <a:rPr lang="pt-BR" sz="2800" b="1" dirty="0">
                <a:solidFill>
                  <a:srgbClr val="494949"/>
                </a:solidFill>
              </a:rPr>
              <a:t>k6</a:t>
            </a:r>
            <a:r>
              <a:rPr lang="pt-BR" sz="2800" dirty="0">
                <a:solidFill>
                  <a:srgbClr val="494949"/>
                </a:solidFill>
              </a:rPr>
              <a:t>...</a:t>
            </a:r>
            <a:endParaRPr lang="pt-BR" sz="2800" b="1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CFA0DE-5D36-C688-71D4-4D28C27518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1351" y="2194046"/>
            <a:ext cx="2297169" cy="2297169"/>
          </a:xfrm>
          <a:prstGeom prst="rect">
            <a:avLst/>
          </a:prstGeom>
          <a:effectLst/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03AF81B-0568-DCE7-F68B-7A2035B01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437" y="3822589"/>
            <a:ext cx="1649823" cy="164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5017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BB239-BC33-9D08-14CF-CE5E6042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DFFF2-C048-691B-1C0C-81503C54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99F4AC2E-599F-D922-5A52-A96E0A649D4E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53091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500" b="1" dirty="0">
                <a:solidFill>
                  <a:schemeClr val="bg1"/>
                </a:solidFill>
              </a:rPr>
              <a:t>github.com/renatogroffe/opensource-bds_data-ai-weekend-sp-2026-07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1D8519B-211B-CE7B-3CDC-FC782731A8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023" y="4351257"/>
            <a:ext cx="2176592" cy="2176592"/>
          </a:xfrm>
          <a:prstGeom prst="rect">
            <a:avLst/>
          </a:prstGeom>
          <a:effectLst/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96E16BB-C59E-81E1-0161-15BD30A33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023" y="1184414"/>
            <a:ext cx="2192613" cy="219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8667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6303-7DE3-E30F-D85E-B3E82295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025B87F9-5A47-DB1A-9E3F-9F2FCA1600DE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E3D746F-EAA3-BD7E-29E3-92DB26B5CED9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30E2F8B7-2CDC-A19A-CAC5-D640DB718765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3B55A6-CD15-7166-CBCD-B71E468BF5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B79747FB-B643-D53C-CD57-A492BD3F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278062"/>
            <a:ext cx="4876800" cy="2179058"/>
          </a:xfrm>
        </p:spPr>
        <p:txBody>
          <a:bodyPr/>
          <a:lstStyle/>
          <a:p>
            <a:pPr algn="ctr"/>
            <a:r>
              <a:rPr lang="pt-BR" dirty="0"/>
              <a:t>EXEMPLOS PRÁTICOS</a:t>
            </a:r>
          </a:p>
        </p:txBody>
      </p:sp>
    </p:spTree>
    <p:extLst>
      <p:ext uri="{BB962C8B-B14F-4D97-AF65-F5344CB8AC3E}">
        <p14:creationId xmlns:p14="http://schemas.microsoft.com/office/powerpoint/2010/main" val="7554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88385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1703</TotalTime>
  <Words>557</Words>
  <Application>Microsoft Office PowerPoint</Application>
  <PresentationFormat>Personalizar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Arial</vt:lpstr>
      <vt:lpstr>Consolas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Produtividade com Open Source ao implementar e gerenciar Bancos de Dados!</vt:lpstr>
      <vt:lpstr>Renato Groffe</vt:lpstr>
      <vt:lpstr>Participe de nossas iniciativas gratuitas</vt:lpstr>
      <vt:lpstr>Conteúdos desta apresentação</vt:lpstr>
      <vt:lpstr>Agenda</vt:lpstr>
      <vt:lpstr>Produtividade x Open Source x Bancos de Dados</vt:lpstr>
      <vt:lpstr>Produtividade x Open Source x Bancos de Dados</vt:lpstr>
      <vt:lpstr>Produtividade x Open Source x Bancos de Dados</vt:lpstr>
      <vt:lpstr>Conteúdos desta apresentação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519</cp:revision>
  <dcterms:created xsi:type="dcterms:W3CDTF">2016-08-05T22:03:34Z</dcterms:created>
  <dcterms:modified xsi:type="dcterms:W3CDTF">2026-07-25T07:42:26Z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